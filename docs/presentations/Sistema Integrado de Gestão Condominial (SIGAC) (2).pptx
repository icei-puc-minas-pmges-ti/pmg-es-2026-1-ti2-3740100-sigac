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2000"/>
  <p:notesSz cx="6858000" cy="9144000"/>
  <p:embeddedFontLst>
    <p:embeddedFont>
      <p:font typeface="Montserrat SemiBold"/>
      <p:regular r:id="rId21"/>
      <p:bold r:id="rId22"/>
      <p:italic r:id="rId23"/>
      <p:boldItalic r:id="rId24"/>
    </p:embeddedFont>
    <p:embeddedFont>
      <p:font typeface="Inter SemiBold"/>
      <p:regular r:id="rId25"/>
      <p:bold r:id="rId26"/>
      <p:italic r:id="rId27"/>
      <p:boldItalic r:id="rId28"/>
    </p:embeddedFont>
    <p:embeddedFont>
      <p:font typeface="Montserrat"/>
      <p:regular r:id="rId29"/>
      <p:bold r:id="rId30"/>
      <p:italic r:id="rId31"/>
      <p:boldItalic r:id="rId32"/>
    </p:embeddedFont>
    <p:embeddedFont>
      <p:font typeface="Inter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MontserratSemiBold-bold.fntdata"/><Relationship Id="rId21" Type="http://schemas.openxmlformats.org/officeDocument/2006/relationships/font" Target="fonts/MontserratSemiBold-regular.fntdata"/><Relationship Id="rId24" Type="http://schemas.openxmlformats.org/officeDocument/2006/relationships/font" Target="fonts/MontserratSemiBold-boldItalic.fntdata"/><Relationship Id="rId23" Type="http://schemas.openxmlformats.org/officeDocument/2006/relationships/font" Target="fonts/MontserratSemiBold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SemiBold-bold.fntdata"/><Relationship Id="rId25" Type="http://schemas.openxmlformats.org/officeDocument/2006/relationships/font" Target="fonts/InterSemiBold-regular.fntdata"/><Relationship Id="rId28" Type="http://schemas.openxmlformats.org/officeDocument/2006/relationships/font" Target="fonts/InterSemiBold-boldItalic.fntdata"/><Relationship Id="rId27" Type="http://schemas.openxmlformats.org/officeDocument/2006/relationships/font" Target="fonts/InterSemiBold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ontserrat-italic.fntdata"/><Relationship Id="rId30" Type="http://schemas.openxmlformats.org/officeDocument/2006/relationships/font" Target="fonts/Montserrat-bold.fntdata"/><Relationship Id="rId11" Type="http://schemas.openxmlformats.org/officeDocument/2006/relationships/slide" Target="slides/slide6.xml"/><Relationship Id="rId33" Type="http://schemas.openxmlformats.org/officeDocument/2006/relationships/font" Target="fonts/Inter-regular.fntdata"/><Relationship Id="rId10" Type="http://schemas.openxmlformats.org/officeDocument/2006/relationships/slide" Target="slides/slide5.xml"/><Relationship Id="rId32" Type="http://schemas.openxmlformats.org/officeDocument/2006/relationships/font" Target="fonts/Montserrat-boldItalic.fntdata"/><Relationship Id="rId13" Type="http://schemas.openxmlformats.org/officeDocument/2006/relationships/slide" Target="slides/slide8.xml"/><Relationship Id="rId35" Type="http://schemas.openxmlformats.org/officeDocument/2006/relationships/font" Target="fonts/Inter-italic.fntdata"/><Relationship Id="rId12" Type="http://schemas.openxmlformats.org/officeDocument/2006/relationships/slide" Target="slides/slide7.xml"/><Relationship Id="rId34" Type="http://schemas.openxmlformats.org/officeDocument/2006/relationships/font" Target="fonts/Inter-bold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schemas.openxmlformats.org/officeDocument/2006/relationships/font" Target="fonts/Inter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5" Type="http://schemas.openxmlformats.org/officeDocument/2006/relationships/image" Target="../media/image12.png"/><Relationship Id="rId6" Type="http://schemas.openxmlformats.org/officeDocument/2006/relationships/image" Target="../media/image7.png"/><Relationship Id="rId7" Type="http://schemas.openxmlformats.org/officeDocument/2006/relationships/image" Target="../media/image10.png"/><Relationship Id="rId8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8.png"/><Relationship Id="rId5" Type="http://schemas.openxmlformats.org/officeDocument/2006/relationships/image" Target="../media/image15.png"/><Relationship Id="rId6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6.png"/><Relationship Id="rId5" Type="http://schemas.openxmlformats.org/officeDocument/2006/relationships/image" Target="../media/image13.png"/><Relationship Id="rId6" Type="http://schemas.openxmlformats.org/officeDocument/2006/relationships/image" Target="../media/image11.png"/><Relationship Id="rId7" Type="http://schemas.openxmlformats.org/officeDocument/2006/relationships/image" Target="../media/image2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2.png"/><Relationship Id="rId4" Type="http://schemas.openxmlformats.org/officeDocument/2006/relationships/image" Target="../media/image17.png"/><Relationship Id="rId5" Type="http://schemas.openxmlformats.org/officeDocument/2006/relationships/image" Target="../media/image31.png"/><Relationship Id="rId6" Type="http://schemas.openxmlformats.org/officeDocument/2006/relationships/image" Target="../media/image16.png"/><Relationship Id="rId7" Type="http://schemas.openxmlformats.org/officeDocument/2006/relationships/image" Target="../media/image21.png"/><Relationship Id="rId8" Type="http://schemas.openxmlformats.org/officeDocument/2006/relationships/image" Target="../media/image3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11" Type="http://schemas.openxmlformats.org/officeDocument/2006/relationships/image" Target="../media/image44.png"/><Relationship Id="rId10" Type="http://schemas.openxmlformats.org/officeDocument/2006/relationships/image" Target="../media/image29.png"/><Relationship Id="rId9" Type="http://schemas.openxmlformats.org/officeDocument/2006/relationships/image" Target="../media/image32.png"/><Relationship Id="rId5" Type="http://schemas.openxmlformats.org/officeDocument/2006/relationships/image" Target="../media/image19.png"/><Relationship Id="rId6" Type="http://schemas.openxmlformats.org/officeDocument/2006/relationships/image" Target="../media/image28.png"/><Relationship Id="rId7" Type="http://schemas.openxmlformats.org/officeDocument/2006/relationships/image" Target="../media/image38.png"/><Relationship Id="rId8" Type="http://schemas.openxmlformats.org/officeDocument/2006/relationships/image" Target="../media/image2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5.png"/><Relationship Id="rId4" Type="http://schemas.openxmlformats.org/officeDocument/2006/relationships/image" Target="../media/image25.png"/><Relationship Id="rId9" Type="http://schemas.openxmlformats.org/officeDocument/2006/relationships/image" Target="../media/image36.png"/><Relationship Id="rId5" Type="http://schemas.openxmlformats.org/officeDocument/2006/relationships/image" Target="../media/image23.png"/><Relationship Id="rId6" Type="http://schemas.openxmlformats.org/officeDocument/2006/relationships/image" Target="../media/image43.png"/><Relationship Id="rId7" Type="http://schemas.openxmlformats.org/officeDocument/2006/relationships/image" Target="../media/image39.png"/><Relationship Id="rId8" Type="http://schemas.openxmlformats.org/officeDocument/2006/relationships/image" Target="../media/image3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3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45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Relationship Id="rId7" Type="http://schemas.openxmlformats.org/officeDocument/2006/relationships/image" Target="../media/image42.png"/><Relationship Id="rId8" Type="http://schemas.openxmlformats.org/officeDocument/2006/relationships/image" Target="../media/image4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4071937" y="1339304"/>
            <a:ext cx="4048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00A3E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ENGENHARIA DE SOFTWARE</a:t>
            </a:r>
            <a:endParaRPr sz="1500"/>
          </a:p>
        </p:txBody>
      </p:sp>
      <p:sp>
        <p:nvSpPr>
          <p:cNvPr id="86" name="Google Shape;86;p13"/>
          <p:cNvSpPr txBox="1"/>
          <p:nvPr/>
        </p:nvSpPr>
        <p:spPr>
          <a:xfrm>
            <a:off x="5070871" y="1758404"/>
            <a:ext cx="20502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002B49"/>
                </a:solidFill>
                <a:latin typeface="Montserrat"/>
                <a:ea typeface="Montserrat"/>
                <a:cs typeface="Montserrat"/>
                <a:sym typeface="Montserrat"/>
              </a:rPr>
              <a:t>SIGAC</a:t>
            </a:r>
            <a:endParaRPr sz="1600"/>
          </a:p>
        </p:txBody>
      </p:sp>
      <p:sp>
        <p:nvSpPr>
          <p:cNvPr id="87" name="Google Shape;87;p13"/>
          <p:cNvSpPr txBox="1"/>
          <p:nvPr/>
        </p:nvSpPr>
        <p:spPr>
          <a:xfrm>
            <a:off x="2362200" y="2619375"/>
            <a:ext cx="7467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Sistema Integrado de Gestão e Administração Condominial</a:t>
            </a:r>
            <a:endParaRPr sz="1500"/>
          </a:p>
        </p:txBody>
      </p:sp>
      <p:sp>
        <p:nvSpPr>
          <p:cNvPr id="88" name="Google Shape;88;p13"/>
          <p:cNvSpPr/>
          <p:nvPr/>
        </p:nvSpPr>
        <p:spPr>
          <a:xfrm>
            <a:off x="5381625" y="3467100"/>
            <a:ext cx="1428750" cy="381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4795837" y="5375820"/>
            <a:ext cx="2600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PUC Minas • Belo Horizonte • 202</a:t>
            </a:r>
            <a:r>
              <a:rPr lang="en-US" sz="1200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6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1676400" y="4171950"/>
            <a:ext cx="42291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Autores: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Caio Felix Reis, Davi Rodrigues, Luca Mazala,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Manoel Bezerra Neto, Milena Cardoso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6286500" y="4171950"/>
            <a:ext cx="42291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Orientadores: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Michelle H. S. Andrade, Lucca S. P. Lacerda,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Luiz Carlos da Silva</a:t>
            </a:r>
            <a:endParaRPr/>
          </a:p>
        </p:txBody>
      </p:sp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7" name="Google Shape;9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62150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9621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1047750" y="2266950"/>
            <a:ext cx="48102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Mercado em Expansão:</a:t>
            </a:r>
            <a:r>
              <a:rPr b="0" i="0" lang="en-US" sz="16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Crescimento de 23,8% no número de condomínios em 8 anos (INCC).</a:t>
            </a:r>
            <a:endParaRPr sz="1500"/>
          </a:p>
        </p:txBody>
      </p:sp>
      <p:sp>
        <p:nvSpPr>
          <p:cNvPr id="101" name="Google Shape;101;p14"/>
          <p:cNvSpPr txBox="1"/>
          <p:nvPr/>
        </p:nvSpPr>
        <p:spPr>
          <a:xfrm>
            <a:off x="1047750" y="3038475"/>
            <a:ext cx="4810200" cy="9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Impacto Econômico:</a:t>
            </a:r>
            <a:r>
              <a:rPr b="0" i="0" lang="en-US" sz="16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Setor movimenta aproximadamente R$ 300 bilhões anuais no Brasil.</a:t>
            </a:r>
            <a:endParaRPr sz="1500"/>
          </a:p>
        </p:txBody>
      </p:sp>
      <p:sp>
        <p:nvSpPr>
          <p:cNvPr id="102" name="Google Shape;102;p14"/>
          <p:cNvSpPr txBox="1"/>
          <p:nvPr/>
        </p:nvSpPr>
        <p:spPr>
          <a:xfrm>
            <a:off x="1047750" y="4155000"/>
            <a:ext cx="4810200" cy="9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Profissionalização:</a:t>
            </a:r>
            <a:r>
              <a:rPr b="0" i="0" lang="en-US" sz="16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Alta demanda por gestores técnicos devido à complexidade tributária e operacional.</a:t>
            </a:r>
            <a:endParaRPr sz="1500"/>
          </a:p>
        </p:txBody>
      </p:sp>
      <p:sp>
        <p:nvSpPr>
          <p:cNvPr id="103" name="Google Shape;103;p14"/>
          <p:cNvSpPr txBox="1"/>
          <p:nvPr/>
        </p:nvSpPr>
        <p:spPr>
          <a:xfrm>
            <a:off x="1047750" y="5193225"/>
            <a:ext cx="48102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Volume Crítico:</a:t>
            </a:r>
            <a:r>
              <a:rPr b="0" i="0" lang="en-US" sz="16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Mais de 520 mil condomínios ativos em todo o território nacional.</a:t>
            </a:r>
            <a:endParaRPr sz="1500"/>
          </a:p>
        </p:txBody>
      </p:sp>
      <p:pic>
        <p:nvPicPr>
          <p:cNvPr descr="image.png" id="104" name="Google Shape;104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3050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07657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19310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5231325"/>
            <a:ext cx="2857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4"/>
          <p:cNvSpPr txBox="1"/>
          <p:nvPr/>
        </p:nvSpPr>
        <p:spPr>
          <a:xfrm>
            <a:off x="762000" y="571500"/>
            <a:ext cx="114015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50" u="none" cap="none" strike="noStrike">
                <a:solidFill>
                  <a:srgbClr val="002B49"/>
                </a:solidFill>
                <a:latin typeface="Montserrat"/>
                <a:ea typeface="Montserrat"/>
                <a:cs typeface="Montserrat"/>
                <a:sym typeface="Montserrat"/>
              </a:rPr>
              <a:t>CONTEXTUALIZAÇÃO DO SETOR</a:t>
            </a:r>
            <a:endParaRPr sz="1600"/>
          </a:p>
        </p:txBody>
      </p:sp>
      <p:sp>
        <p:nvSpPr>
          <p:cNvPr id="109" name="Google Shape;109;p14"/>
          <p:cNvSpPr/>
          <p:nvPr/>
        </p:nvSpPr>
        <p:spPr>
          <a:xfrm>
            <a:off x="571500" y="571500"/>
            <a:ext cx="107100" cy="6096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5" name="Google Shape;11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1047750" y="2605087"/>
            <a:ext cx="105729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Fragmentação de Dados:</a:t>
            </a:r>
            <a:r>
              <a:rPr b="0" i="0" lang="en-US" sz="16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Uso excessivo de planilhas isoladas sem versionamento ou segurança.</a:t>
            </a:r>
            <a:endParaRPr sz="1500"/>
          </a:p>
        </p:txBody>
      </p:sp>
      <p:sp>
        <p:nvSpPr>
          <p:cNvPr id="117" name="Google Shape;117;p15"/>
          <p:cNvSpPr txBox="1"/>
          <p:nvPr/>
        </p:nvSpPr>
        <p:spPr>
          <a:xfrm>
            <a:off x="1047750" y="3109912"/>
            <a:ext cx="105729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Processos Manuais:</a:t>
            </a:r>
            <a:r>
              <a:rPr b="0" i="0" lang="en-US" sz="16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Gasto elevado de tempo em tarefas repetitivas de controle de funcionários e manutenções.</a:t>
            </a:r>
            <a:endParaRPr sz="1500"/>
          </a:p>
        </p:txBody>
      </p:sp>
      <p:sp>
        <p:nvSpPr>
          <p:cNvPr id="118" name="Google Shape;118;p15"/>
          <p:cNvSpPr txBox="1"/>
          <p:nvPr/>
        </p:nvSpPr>
        <p:spPr>
          <a:xfrm>
            <a:off x="1109261" y="3835062"/>
            <a:ext cx="105729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Opacidade Financeira:</a:t>
            </a:r>
            <a:r>
              <a:rPr b="0" i="0" lang="en-US" sz="16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Dificuldade na rastreabilidade de gastos e falta de transparência para condôminos.</a:t>
            </a:r>
            <a:endParaRPr sz="1500"/>
          </a:p>
        </p:txBody>
      </p:sp>
      <p:sp>
        <p:nvSpPr>
          <p:cNvPr id="119" name="Google Shape;119;p15"/>
          <p:cNvSpPr txBox="1"/>
          <p:nvPr/>
        </p:nvSpPr>
        <p:spPr>
          <a:xfrm>
            <a:off x="1109261" y="4339887"/>
            <a:ext cx="105729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Riscos Operacionais:</a:t>
            </a:r>
            <a:r>
              <a:rPr b="0" i="0" lang="en-US" sz="16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Falhas em cronogramas de manutenção preventiva e perda de históricos críticos.</a:t>
            </a:r>
            <a:endParaRPr sz="1500"/>
          </a:p>
        </p:txBody>
      </p:sp>
      <p:sp>
        <p:nvSpPr>
          <p:cNvPr id="120" name="Google Shape;120;p15"/>
          <p:cNvSpPr txBox="1"/>
          <p:nvPr/>
        </p:nvSpPr>
        <p:spPr>
          <a:xfrm>
            <a:off x="1109261" y="4844712"/>
            <a:ext cx="105729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Comunicação Falha:</a:t>
            </a:r>
            <a:r>
              <a:rPr b="0" i="0" lang="en-US" sz="16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Mural de avisos físicos e canais informais gerando ruídos na gestão.</a:t>
            </a:r>
            <a:endParaRPr sz="1500"/>
          </a:p>
        </p:txBody>
      </p:sp>
      <p:pic>
        <p:nvPicPr>
          <p:cNvPr descr="image.png" id="121" name="Google Shape;12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4318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14801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011" y="387316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011" y="437798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011" y="4882812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5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2B49"/>
                </a:solidFill>
                <a:latin typeface="Montserrat"/>
                <a:ea typeface="Montserrat"/>
                <a:cs typeface="Montserrat"/>
                <a:sym typeface="Montserrat"/>
              </a:rPr>
              <a:t>DORES E PROBLEMAS IDENTIFICADOS</a:t>
            </a:r>
            <a:endParaRPr/>
          </a:p>
        </p:txBody>
      </p:sp>
      <p:sp>
        <p:nvSpPr>
          <p:cNvPr id="127" name="Google Shape;127;p15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3" name="Google Shape;13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 txBox="1"/>
          <p:nvPr/>
        </p:nvSpPr>
        <p:spPr>
          <a:xfrm>
            <a:off x="571500" y="1528762"/>
            <a:ext cx="52008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002B49"/>
                </a:solidFill>
                <a:latin typeface="Montserrat"/>
                <a:ea typeface="Montserrat"/>
                <a:cs typeface="Montserrat"/>
                <a:sym typeface="Montserrat"/>
              </a:rPr>
              <a:t>SOLUÇÃO PROPOSTA</a:t>
            </a:r>
            <a:endParaRPr sz="1700"/>
          </a:p>
        </p:txBody>
      </p:sp>
      <p:sp>
        <p:nvSpPr>
          <p:cNvPr id="135" name="Google Shape;135;p16"/>
          <p:cNvSpPr txBox="1"/>
          <p:nvPr/>
        </p:nvSpPr>
        <p:spPr>
          <a:xfrm>
            <a:off x="571500" y="2405062"/>
            <a:ext cx="49530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00A3E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 Plataforma SIGAC</a:t>
            </a:r>
            <a:endParaRPr sz="1700"/>
          </a:p>
        </p:txBody>
      </p:sp>
      <p:sp>
        <p:nvSpPr>
          <p:cNvPr id="136" name="Google Shape;136;p16"/>
          <p:cNvSpPr txBox="1"/>
          <p:nvPr/>
        </p:nvSpPr>
        <p:spPr>
          <a:xfrm>
            <a:off x="571500" y="2795587"/>
            <a:ext cx="49530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Desenvolvemos uma plataforma web centralizada capaz de unificar todos os pilares da administração predial em um ecossistema digital seguro e auditável.</a:t>
            </a:r>
            <a:endParaRPr sz="1700"/>
          </a:p>
        </p:txBody>
      </p:sp>
      <p:pic>
        <p:nvPicPr>
          <p:cNvPr descr="image.png" id="137" name="Google Shape;13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 txBox="1"/>
          <p:nvPr/>
        </p:nvSpPr>
        <p:spPr>
          <a:xfrm>
            <a:off x="1047750" y="3700462"/>
            <a:ext cx="4476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Dashboard financeiro intuitivo.</a:t>
            </a:r>
            <a:endParaRPr sz="1700"/>
          </a:p>
        </p:txBody>
      </p:sp>
      <p:sp>
        <p:nvSpPr>
          <p:cNvPr id="139" name="Google Shape;139;p16"/>
          <p:cNvSpPr txBox="1"/>
          <p:nvPr/>
        </p:nvSpPr>
        <p:spPr>
          <a:xfrm>
            <a:off x="1047750" y="4205287"/>
            <a:ext cx="4476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Gestão de manutenção rigorosa.</a:t>
            </a:r>
            <a:endParaRPr sz="1700"/>
          </a:p>
        </p:txBody>
      </p:sp>
      <p:sp>
        <p:nvSpPr>
          <p:cNvPr id="140" name="Google Shape;140;p16"/>
          <p:cNvSpPr txBox="1"/>
          <p:nvPr/>
        </p:nvSpPr>
        <p:spPr>
          <a:xfrm>
            <a:off x="1047750" y="4710112"/>
            <a:ext cx="4476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Controle de gastos e inquilinos.</a:t>
            </a:r>
            <a:endParaRPr sz="1700"/>
          </a:p>
        </p:txBody>
      </p:sp>
      <p:pic>
        <p:nvPicPr>
          <p:cNvPr descr="image.png" id="141" name="Google Shape;14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738562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243387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748212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9" name="Google Shape;14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05037"/>
            <a:ext cx="5286375" cy="3324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205037"/>
            <a:ext cx="5286375" cy="3324225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7"/>
          <p:cNvSpPr txBox="1"/>
          <p:nvPr/>
        </p:nvSpPr>
        <p:spPr>
          <a:xfrm>
            <a:off x="952500" y="2586037"/>
            <a:ext cx="4750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00A3E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Objetivo Geral</a:t>
            </a:r>
            <a:endParaRPr sz="1500"/>
          </a:p>
        </p:txBody>
      </p:sp>
      <p:sp>
        <p:nvSpPr>
          <p:cNvPr id="153" name="Google Shape;153;p17"/>
          <p:cNvSpPr txBox="1"/>
          <p:nvPr/>
        </p:nvSpPr>
        <p:spPr>
          <a:xfrm>
            <a:off x="952500" y="3100387"/>
            <a:ext cx="4524300" cy="19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Desenvolver um Sistema Integrado de Gestão Condominial que proporcione eficiência operacional, transparência financeira e otimização da manutenção predial.</a:t>
            </a:r>
            <a:endParaRPr sz="1500"/>
          </a:p>
        </p:txBody>
      </p:sp>
      <p:sp>
        <p:nvSpPr>
          <p:cNvPr id="154" name="Google Shape;154;p17"/>
          <p:cNvSpPr txBox="1"/>
          <p:nvPr/>
        </p:nvSpPr>
        <p:spPr>
          <a:xfrm>
            <a:off x="6715125" y="2586037"/>
            <a:ext cx="4750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002B4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Objetivos Específicos</a:t>
            </a:r>
            <a:endParaRPr sz="1500"/>
          </a:p>
        </p:txBody>
      </p:sp>
      <p:sp>
        <p:nvSpPr>
          <p:cNvPr id="155" name="Google Shape;155;p17"/>
          <p:cNvSpPr txBox="1"/>
          <p:nvPr/>
        </p:nvSpPr>
        <p:spPr>
          <a:xfrm>
            <a:off x="7191375" y="3100387"/>
            <a:ext cx="40482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Digitalizar o cadastro de inquilinos e funcionários.</a:t>
            </a:r>
            <a:endParaRPr sz="1500"/>
          </a:p>
        </p:txBody>
      </p:sp>
      <p:sp>
        <p:nvSpPr>
          <p:cNvPr id="156" name="Google Shape;156;p17"/>
          <p:cNvSpPr txBox="1"/>
          <p:nvPr/>
        </p:nvSpPr>
        <p:spPr>
          <a:xfrm>
            <a:off x="7191375" y="3871912"/>
            <a:ext cx="40482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Implementar fluxos de aviso e comunicação digital.</a:t>
            </a:r>
            <a:endParaRPr sz="1500"/>
          </a:p>
        </p:txBody>
      </p:sp>
      <p:sp>
        <p:nvSpPr>
          <p:cNvPr id="157" name="Google Shape;157;p17"/>
          <p:cNvSpPr txBox="1"/>
          <p:nvPr/>
        </p:nvSpPr>
        <p:spPr>
          <a:xfrm>
            <a:off x="7191375" y="4643437"/>
            <a:ext cx="40482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Estrutura</a:t>
            </a:r>
            <a:r>
              <a:rPr b="0" i="0" lang="en-US" sz="16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módulo de controle de despesas.</a:t>
            </a:r>
            <a:endParaRPr sz="1500"/>
          </a:p>
        </p:txBody>
      </p:sp>
      <p:pic>
        <p:nvPicPr>
          <p:cNvPr descr="image.png" id="158" name="Google Shape;158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15125" y="313848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15125" y="391001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15125" y="4681537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7"/>
          <p:cNvSpPr txBox="1"/>
          <p:nvPr/>
        </p:nvSpPr>
        <p:spPr>
          <a:xfrm>
            <a:off x="762000" y="571500"/>
            <a:ext cx="114015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50" u="none" cap="none" strike="noStrike">
                <a:solidFill>
                  <a:srgbClr val="002B49"/>
                </a:solidFill>
                <a:latin typeface="Montserrat"/>
                <a:ea typeface="Montserrat"/>
                <a:cs typeface="Montserrat"/>
                <a:sym typeface="Montserrat"/>
              </a:rPr>
              <a:t>OBJETIVOS DO PROJETO</a:t>
            </a:r>
            <a:endParaRPr sz="1600"/>
          </a:p>
        </p:txBody>
      </p:sp>
      <p:sp>
        <p:nvSpPr>
          <p:cNvPr id="162" name="Google Shape;162;p17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8" name="Google Shape;16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19875" y="2401912"/>
            <a:ext cx="3492549" cy="2619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94849" y="2401899"/>
            <a:ext cx="3492549" cy="2619375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8"/>
          <p:cNvSpPr txBox="1"/>
          <p:nvPr/>
        </p:nvSpPr>
        <p:spPr>
          <a:xfrm>
            <a:off x="2801004" y="3449662"/>
            <a:ext cx="1130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00A3E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Gestora</a:t>
            </a:r>
            <a:endParaRPr sz="1500"/>
          </a:p>
        </p:txBody>
      </p:sp>
      <p:sp>
        <p:nvSpPr>
          <p:cNvPr id="172" name="Google Shape;172;p18"/>
          <p:cNvSpPr txBox="1"/>
          <p:nvPr/>
        </p:nvSpPr>
        <p:spPr>
          <a:xfrm>
            <a:off x="1915150" y="3964012"/>
            <a:ext cx="2901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Usuário administrativo com visão macro de múltiplos condomínios e relatórios gerenciais.</a:t>
            </a:r>
            <a:endParaRPr sz="1700"/>
          </a:p>
        </p:txBody>
      </p:sp>
      <p:sp>
        <p:nvSpPr>
          <p:cNvPr id="173" name="Google Shape;173;p18"/>
          <p:cNvSpPr txBox="1"/>
          <p:nvPr/>
        </p:nvSpPr>
        <p:spPr>
          <a:xfrm>
            <a:off x="8705983" y="3449650"/>
            <a:ext cx="1070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00A3E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Síndico</a:t>
            </a:r>
            <a:endParaRPr sz="1500"/>
          </a:p>
        </p:txBody>
      </p:sp>
      <p:sp>
        <p:nvSpPr>
          <p:cNvPr id="174" name="Google Shape;174;p18"/>
          <p:cNvSpPr txBox="1"/>
          <p:nvPr/>
        </p:nvSpPr>
        <p:spPr>
          <a:xfrm>
            <a:off x="7790124" y="3964000"/>
            <a:ext cx="29019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Responsável legal focado no acompanhamento financeiro e status das manutenções.</a:t>
            </a:r>
            <a:endParaRPr sz="1700"/>
          </a:p>
        </p:txBody>
      </p:sp>
      <p:pic>
        <p:nvPicPr>
          <p:cNvPr descr="image.png" id="175" name="Google Shape;175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080325" y="2744812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955300" y="2744800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8"/>
          <p:cNvSpPr txBox="1"/>
          <p:nvPr/>
        </p:nvSpPr>
        <p:spPr>
          <a:xfrm>
            <a:off x="762000" y="571500"/>
            <a:ext cx="114015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50" u="none" cap="none" strike="noStrike">
                <a:solidFill>
                  <a:srgbClr val="002B49"/>
                </a:solidFill>
                <a:latin typeface="Montserrat"/>
                <a:ea typeface="Montserrat"/>
                <a:cs typeface="Montserrat"/>
                <a:sym typeface="Montserrat"/>
              </a:rPr>
              <a:t>MATRIZ DE STAKEHOLDERS</a:t>
            </a:r>
            <a:endParaRPr sz="1600"/>
          </a:p>
        </p:txBody>
      </p:sp>
      <p:sp>
        <p:nvSpPr>
          <p:cNvPr id="178" name="Google Shape;178;p18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4" name="Google Shape;18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28937" y="2776537"/>
            <a:ext cx="714375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9"/>
          <p:cNvSpPr txBox="1"/>
          <p:nvPr/>
        </p:nvSpPr>
        <p:spPr>
          <a:xfrm>
            <a:off x="635793" y="3919537"/>
            <a:ext cx="5300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00A3E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Paradigma Analógico</a:t>
            </a:r>
            <a:endParaRPr sz="1600"/>
          </a:p>
        </p:txBody>
      </p:sp>
      <p:sp>
        <p:nvSpPr>
          <p:cNvPr id="187" name="Google Shape;187;p19"/>
          <p:cNvSpPr txBox="1"/>
          <p:nvPr/>
        </p:nvSpPr>
        <p:spPr>
          <a:xfrm>
            <a:off x="762000" y="4433887"/>
            <a:ext cx="5048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Processos baseados em documentos físicos e planilhas eletrônicas desconectadas.</a:t>
            </a:r>
            <a:endParaRPr sz="1600"/>
          </a:p>
        </p:txBody>
      </p:sp>
      <p:sp>
        <p:nvSpPr>
          <p:cNvPr id="188" name="Google Shape;188;p19"/>
          <p:cNvSpPr txBox="1"/>
          <p:nvPr/>
        </p:nvSpPr>
        <p:spPr>
          <a:xfrm>
            <a:off x="6667500" y="2933700"/>
            <a:ext cx="4953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Dificuldade de auditoria de dados passados.</a:t>
            </a:r>
            <a:endParaRPr sz="1700"/>
          </a:p>
        </p:txBody>
      </p:sp>
      <p:sp>
        <p:nvSpPr>
          <p:cNvPr id="189" name="Google Shape;189;p19"/>
          <p:cNvSpPr txBox="1"/>
          <p:nvPr/>
        </p:nvSpPr>
        <p:spPr>
          <a:xfrm>
            <a:off x="6667500" y="3438525"/>
            <a:ext cx="4953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Inexistência de backup automatizado.</a:t>
            </a:r>
            <a:endParaRPr sz="1700"/>
          </a:p>
        </p:txBody>
      </p:sp>
      <p:sp>
        <p:nvSpPr>
          <p:cNvPr id="190" name="Google Shape;190;p19"/>
          <p:cNvSpPr txBox="1"/>
          <p:nvPr/>
        </p:nvSpPr>
        <p:spPr>
          <a:xfrm>
            <a:off x="6667500" y="3943350"/>
            <a:ext cx="4953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Comunicação via papel (mural físico).</a:t>
            </a:r>
            <a:endParaRPr sz="1700"/>
          </a:p>
        </p:txBody>
      </p:sp>
      <p:sp>
        <p:nvSpPr>
          <p:cNvPr id="191" name="Google Shape;191;p19"/>
          <p:cNvSpPr txBox="1"/>
          <p:nvPr/>
        </p:nvSpPr>
        <p:spPr>
          <a:xfrm>
            <a:off x="6667500" y="4448175"/>
            <a:ext cx="4953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Controle de estoque e manutenção reativo.</a:t>
            </a:r>
            <a:endParaRPr sz="1700"/>
          </a:p>
        </p:txBody>
      </p:sp>
      <p:sp>
        <p:nvSpPr>
          <p:cNvPr id="192" name="Google Shape;192;p19"/>
          <p:cNvSpPr txBox="1"/>
          <p:nvPr/>
        </p:nvSpPr>
        <p:spPr>
          <a:xfrm>
            <a:off x="762000" y="571500"/>
            <a:ext cx="114015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50" u="none" cap="none" strike="noStrike">
                <a:solidFill>
                  <a:srgbClr val="002B49"/>
                </a:solidFill>
                <a:latin typeface="Montserrat"/>
                <a:ea typeface="Montserrat"/>
                <a:cs typeface="Montserrat"/>
                <a:sym typeface="Montserrat"/>
              </a:rPr>
              <a:t>ANÁLISE DE PROCESSOS: AS-IS</a:t>
            </a:r>
            <a:endParaRPr sz="1600"/>
          </a:p>
        </p:txBody>
      </p:sp>
      <p:sp>
        <p:nvSpPr>
          <p:cNvPr id="193" name="Google Shape;193;p19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DF4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9" name="Google Shape;19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0"/>
          <p:cNvSpPr txBox="1"/>
          <p:nvPr/>
        </p:nvSpPr>
        <p:spPr>
          <a:xfrm>
            <a:off x="6201965" y="4395787"/>
            <a:ext cx="5550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16A34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Otimização Digital</a:t>
            </a:r>
            <a:endParaRPr sz="1600"/>
          </a:p>
        </p:txBody>
      </p:sp>
      <p:sp>
        <p:nvSpPr>
          <p:cNvPr id="201" name="Google Shape;201;p20"/>
          <p:cNvSpPr txBox="1"/>
          <p:nvPr/>
        </p:nvSpPr>
        <p:spPr>
          <a:xfrm>
            <a:off x="1047750" y="2800350"/>
            <a:ext cx="48102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Automação:</a:t>
            </a:r>
            <a:r>
              <a:rPr b="0" i="0" lang="en-US" sz="17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Fluxos de trabalho digitais e automáticos.</a:t>
            </a:r>
            <a:endParaRPr sz="1600"/>
          </a:p>
        </p:txBody>
      </p:sp>
      <p:sp>
        <p:nvSpPr>
          <p:cNvPr id="202" name="Google Shape;202;p20"/>
          <p:cNvSpPr txBox="1"/>
          <p:nvPr/>
        </p:nvSpPr>
        <p:spPr>
          <a:xfrm>
            <a:off x="1047750" y="3571875"/>
            <a:ext cx="48102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Disponibilidade:</a:t>
            </a:r>
            <a:r>
              <a:rPr b="0" i="0" lang="en-US" sz="17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Dados em nuvem acessíveis 24/7.</a:t>
            </a:r>
            <a:endParaRPr sz="1600"/>
          </a:p>
        </p:txBody>
      </p:sp>
      <p:sp>
        <p:nvSpPr>
          <p:cNvPr id="203" name="Google Shape;203;p20"/>
          <p:cNvSpPr txBox="1"/>
          <p:nvPr/>
        </p:nvSpPr>
        <p:spPr>
          <a:xfrm>
            <a:off x="1047750" y="4343400"/>
            <a:ext cx="48102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Transparência:</a:t>
            </a:r>
            <a:r>
              <a:rPr b="0" i="0" lang="en-US" sz="17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Dashboards em tempo real.</a:t>
            </a:r>
            <a:endParaRPr sz="1600"/>
          </a:p>
        </p:txBody>
      </p:sp>
      <p:sp>
        <p:nvSpPr>
          <p:cNvPr id="204" name="Google Shape;204;p20"/>
          <p:cNvSpPr txBox="1"/>
          <p:nvPr/>
        </p:nvSpPr>
        <p:spPr>
          <a:xfrm>
            <a:off x="1047750" y="4848225"/>
            <a:ext cx="48102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Rastreabilidade:</a:t>
            </a:r>
            <a:r>
              <a:rPr b="0" i="0" lang="en-US" sz="17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Log de atividades por usuário.</a:t>
            </a:r>
            <a:endParaRPr sz="1600"/>
          </a:p>
        </p:txBody>
      </p:sp>
      <p:pic>
        <p:nvPicPr>
          <p:cNvPr descr="image.png" id="205" name="Google Shape;20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05812" y="2928937"/>
            <a:ext cx="11430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83845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609975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381500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886325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 txBox="1"/>
          <p:nvPr/>
        </p:nvSpPr>
        <p:spPr>
          <a:xfrm>
            <a:off x="762000" y="571500"/>
            <a:ext cx="114015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50" u="none" cap="none" strike="noStrike">
                <a:solidFill>
                  <a:srgbClr val="002B49"/>
                </a:solidFill>
                <a:latin typeface="Montserrat"/>
                <a:ea typeface="Montserrat"/>
                <a:cs typeface="Montserrat"/>
                <a:sym typeface="Montserrat"/>
              </a:rPr>
              <a:t>VISÃO DE FUTURO: TO-BE</a:t>
            </a:r>
            <a:endParaRPr sz="1600"/>
          </a:p>
        </p:txBody>
      </p:sp>
      <p:sp>
        <p:nvSpPr>
          <p:cNvPr id="211" name="Google Shape;211;p20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7" name="Google Shape;21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66950"/>
            <a:ext cx="3492549" cy="3200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266950"/>
            <a:ext cx="3492549" cy="3200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266950"/>
            <a:ext cx="3492549" cy="3200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38820" y="2562225"/>
            <a:ext cx="2557760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817119" y="2562225"/>
            <a:ext cx="2557760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595419" y="2562225"/>
            <a:ext cx="255776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1"/>
          <p:cNvSpPr txBox="1"/>
          <p:nvPr/>
        </p:nvSpPr>
        <p:spPr>
          <a:xfrm>
            <a:off x="1197560" y="4133850"/>
            <a:ext cx="2240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00A3E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Cadastros Base</a:t>
            </a:r>
            <a:endParaRPr sz="1500"/>
          </a:p>
        </p:txBody>
      </p:sp>
      <p:sp>
        <p:nvSpPr>
          <p:cNvPr id="225" name="Google Shape;225;p21"/>
          <p:cNvSpPr txBox="1"/>
          <p:nvPr/>
        </p:nvSpPr>
        <p:spPr>
          <a:xfrm>
            <a:off x="888950" y="4648200"/>
            <a:ext cx="2857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Inquilinos, Condomínios e Funcionários.</a:t>
            </a:r>
            <a:endParaRPr sz="1600"/>
          </a:p>
        </p:txBody>
      </p:sp>
      <p:sp>
        <p:nvSpPr>
          <p:cNvPr id="226" name="Google Shape;226;p21"/>
          <p:cNvSpPr txBox="1"/>
          <p:nvPr/>
        </p:nvSpPr>
        <p:spPr>
          <a:xfrm>
            <a:off x="4670821" y="4133850"/>
            <a:ext cx="2850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00A3E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Gestão Operacional</a:t>
            </a:r>
            <a:endParaRPr sz="1500"/>
          </a:p>
        </p:txBody>
      </p:sp>
      <p:sp>
        <p:nvSpPr>
          <p:cNvPr id="227" name="Google Shape;227;p21"/>
          <p:cNvSpPr txBox="1"/>
          <p:nvPr/>
        </p:nvSpPr>
        <p:spPr>
          <a:xfrm>
            <a:off x="4645074" y="4648200"/>
            <a:ext cx="2901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Manutenções Preventivas e Avisos Gerais.</a:t>
            </a:r>
            <a:endParaRPr sz="1600"/>
          </a:p>
        </p:txBody>
      </p:sp>
      <p:sp>
        <p:nvSpPr>
          <p:cNvPr id="228" name="Google Shape;228;p21"/>
          <p:cNvSpPr txBox="1"/>
          <p:nvPr/>
        </p:nvSpPr>
        <p:spPr>
          <a:xfrm>
            <a:off x="8889176" y="4133850"/>
            <a:ext cx="1970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00A3E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Controladoria</a:t>
            </a:r>
            <a:endParaRPr sz="1500"/>
          </a:p>
        </p:txBody>
      </p:sp>
      <p:sp>
        <p:nvSpPr>
          <p:cNvPr id="229" name="Google Shape;229;p21"/>
          <p:cNvSpPr txBox="1"/>
          <p:nvPr/>
        </p:nvSpPr>
        <p:spPr>
          <a:xfrm>
            <a:off x="8423374" y="4648200"/>
            <a:ext cx="2901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Gestão de Gastos e Dashboard de Receitas.</a:t>
            </a:r>
            <a:endParaRPr sz="1600"/>
          </a:p>
        </p:txBody>
      </p:sp>
      <p:pic>
        <p:nvPicPr>
          <p:cNvPr descr="image.png" id="230" name="Google Shape;230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38820" y="2562225"/>
            <a:ext cx="2557760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2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817119" y="2562225"/>
            <a:ext cx="2557760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2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595419" y="2562225"/>
            <a:ext cx="255776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1"/>
          <p:cNvSpPr txBox="1"/>
          <p:nvPr/>
        </p:nvSpPr>
        <p:spPr>
          <a:xfrm>
            <a:off x="762000" y="571500"/>
            <a:ext cx="11401500" cy="5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50" u="none" cap="none" strike="noStrike">
                <a:solidFill>
                  <a:srgbClr val="002B49"/>
                </a:solidFill>
                <a:latin typeface="Montserrat"/>
                <a:ea typeface="Montserrat"/>
                <a:cs typeface="Montserrat"/>
                <a:sym typeface="Montserrat"/>
              </a:rPr>
              <a:t>MÓDULOS FUNCIONAIS</a:t>
            </a:r>
            <a:endParaRPr sz="1500"/>
          </a:p>
        </p:txBody>
      </p:sp>
      <p:sp>
        <p:nvSpPr>
          <p:cNvPr id="234" name="Google Shape;234;p21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0" name="Google Shape;24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1" name="Google Shape;24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24050" y="26621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2"/>
          <p:cNvSpPr txBox="1"/>
          <p:nvPr/>
        </p:nvSpPr>
        <p:spPr>
          <a:xfrm>
            <a:off x="1857450" y="3119300"/>
            <a:ext cx="628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React JS</a:t>
            </a:r>
            <a:endParaRPr/>
          </a:p>
        </p:txBody>
      </p:sp>
      <p:pic>
        <p:nvPicPr>
          <p:cNvPr descr="image.png" id="243" name="Google Shape;243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52950" y="2662100"/>
            <a:ext cx="3429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2"/>
          <p:cNvSpPr txBox="1"/>
          <p:nvPr/>
        </p:nvSpPr>
        <p:spPr>
          <a:xfrm>
            <a:off x="4486275" y="3211550"/>
            <a:ext cx="647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Java 17+</a:t>
            </a:r>
            <a:endParaRPr/>
          </a:p>
        </p:txBody>
      </p:sp>
      <p:pic>
        <p:nvPicPr>
          <p:cNvPr descr="image.png" id="245" name="Google Shape;245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67550" y="26621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2"/>
          <p:cNvSpPr txBox="1"/>
          <p:nvPr/>
        </p:nvSpPr>
        <p:spPr>
          <a:xfrm>
            <a:off x="6891412" y="3244200"/>
            <a:ext cx="847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Spring Boot</a:t>
            </a:r>
            <a:endParaRPr/>
          </a:p>
        </p:txBody>
      </p:sp>
      <p:pic>
        <p:nvPicPr>
          <p:cNvPr descr="image.png" id="247" name="Google Shape;247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67875" y="2662100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2"/>
          <p:cNvSpPr txBox="1"/>
          <p:nvPr/>
        </p:nvSpPr>
        <p:spPr>
          <a:xfrm>
            <a:off x="9629850" y="3244200"/>
            <a:ext cx="70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MySQL</a:t>
            </a:r>
            <a:endParaRPr/>
          </a:p>
        </p:txBody>
      </p:sp>
      <p:pic>
        <p:nvPicPr>
          <p:cNvPr descr="image.png" id="249" name="Google Shape;249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86287" y="4400550"/>
            <a:ext cx="447675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2"/>
          <p:cNvSpPr txBox="1"/>
          <p:nvPr/>
        </p:nvSpPr>
        <p:spPr>
          <a:xfrm>
            <a:off x="4288725" y="4982175"/>
            <a:ext cx="1042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GitHub</a:t>
            </a:r>
            <a:endParaRPr/>
          </a:p>
        </p:txBody>
      </p:sp>
      <p:pic>
        <p:nvPicPr>
          <p:cNvPr descr="image.png" id="251" name="Google Shape;251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153275" y="429485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2"/>
          <p:cNvSpPr txBox="1"/>
          <p:nvPr/>
        </p:nvSpPr>
        <p:spPr>
          <a:xfrm>
            <a:off x="7029450" y="4857750"/>
            <a:ext cx="70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JWT Auth</a:t>
            </a:r>
            <a:endParaRPr/>
          </a:p>
        </p:txBody>
      </p:sp>
      <p:sp>
        <p:nvSpPr>
          <p:cNvPr id="253" name="Google Shape;253;p22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2B49"/>
                </a:solidFill>
                <a:latin typeface="Montserrat"/>
                <a:ea typeface="Montserrat"/>
                <a:cs typeface="Montserrat"/>
                <a:sym typeface="Montserrat"/>
              </a:rPr>
              <a:t>STACK TECNOLÓGICA</a:t>
            </a:r>
            <a:endParaRPr/>
          </a:p>
        </p:txBody>
      </p:sp>
      <p:sp>
        <p:nvSpPr>
          <p:cNvPr id="254" name="Google Shape;254;p22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0" name="Google Shape;26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1" name="Google Shape;26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47800"/>
            <a:ext cx="11049000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3"/>
          <p:cNvSpPr txBox="1"/>
          <p:nvPr/>
        </p:nvSpPr>
        <p:spPr>
          <a:xfrm>
            <a:off x="571500" y="5605462"/>
            <a:ext cx="11049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Visualização consolidada de receitas vs. despesas por condomínio.</a:t>
            </a:r>
            <a:endParaRPr/>
          </a:p>
        </p:txBody>
      </p:sp>
      <p:sp>
        <p:nvSpPr>
          <p:cNvPr id="263" name="Google Shape;263;p23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2B49"/>
                </a:solidFill>
                <a:latin typeface="Montserrat"/>
                <a:ea typeface="Montserrat"/>
                <a:cs typeface="Montserrat"/>
                <a:sym typeface="Montserrat"/>
              </a:rPr>
              <a:t>ANÁLISE FINANCEIRA</a:t>
            </a:r>
            <a:endParaRPr/>
          </a:p>
        </p:txBody>
      </p:sp>
      <p:sp>
        <p:nvSpPr>
          <p:cNvPr id="264" name="Google Shape;264;p23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0" name="Google Shape;27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4"/>
          <p:cNvSpPr txBox="1"/>
          <p:nvPr/>
        </p:nvSpPr>
        <p:spPr>
          <a:xfrm>
            <a:off x="1047750" y="2919412"/>
            <a:ext cx="48102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Integridade:</a:t>
            </a:r>
            <a:r>
              <a:rPr b="0" i="0" lang="en-US" sz="17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Redução drástica de erros humanos e duplicidade.</a:t>
            </a:r>
            <a:endParaRPr sz="1600"/>
          </a:p>
        </p:txBody>
      </p:sp>
      <p:sp>
        <p:nvSpPr>
          <p:cNvPr id="272" name="Google Shape;272;p24"/>
          <p:cNvSpPr txBox="1"/>
          <p:nvPr/>
        </p:nvSpPr>
        <p:spPr>
          <a:xfrm>
            <a:off x="1047750" y="3690937"/>
            <a:ext cx="48102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Visibilidade:</a:t>
            </a:r>
            <a:r>
              <a:rPr b="0" i="0" lang="en-US" sz="17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Transparência total para o conselho fiscal.</a:t>
            </a:r>
            <a:endParaRPr sz="1600"/>
          </a:p>
        </p:txBody>
      </p:sp>
      <p:sp>
        <p:nvSpPr>
          <p:cNvPr id="273" name="Google Shape;273;p24"/>
          <p:cNvSpPr txBox="1"/>
          <p:nvPr/>
        </p:nvSpPr>
        <p:spPr>
          <a:xfrm>
            <a:off x="1047750" y="4462462"/>
            <a:ext cx="48102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Histórico:</a:t>
            </a:r>
            <a:r>
              <a:rPr b="0" i="0" lang="en-US" sz="17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Rastreabilidade de cada centavo gasto.</a:t>
            </a:r>
            <a:endParaRPr sz="1600"/>
          </a:p>
        </p:txBody>
      </p:sp>
      <p:sp>
        <p:nvSpPr>
          <p:cNvPr id="274" name="Google Shape;274;p24"/>
          <p:cNvSpPr txBox="1"/>
          <p:nvPr/>
        </p:nvSpPr>
        <p:spPr>
          <a:xfrm>
            <a:off x="6810375" y="2919412"/>
            <a:ext cx="48102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Escalabilidade:</a:t>
            </a:r>
            <a:r>
              <a:rPr b="0" i="0" lang="en-US" sz="17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Suporte para centenas de condomínios.</a:t>
            </a:r>
            <a:endParaRPr sz="1600"/>
          </a:p>
        </p:txBody>
      </p:sp>
      <p:sp>
        <p:nvSpPr>
          <p:cNvPr id="275" name="Google Shape;275;p24"/>
          <p:cNvSpPr txBox="1"/>
          <p:nvPr/>
        </p:nvSpPr>
        <p:spPr>
          <a:xfrm>
            <a:off x="6810375" y="3690937"/>
            <a:ext cx="48102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Economia:</a:t>
            </a:r>
            <a:r>
              <a:rPr b="0" i="0" lang="en-US" sz="17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Otimização do tempo da equipe administrativa.</a:t>
            </a:r>
            <a:endParaRPr sz="1600"/>
          </a:p>
        </p:txBody>
      </p:sp>
      <p:sp>
        <p:nvSpPr>
          <p:cNvPr id="276" name="Google Shape;276;p24"/>
          <p:cNvSpPr txBox="1"/>
          <p:nvPr/>
        </p:nvSpPr>
        <p:spPr>
          <a:xfrm>
            <a:off x="6810375" y="4462462"/>
            <a:ext cx="48102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Acessibilidade:</a:t>
            </a:r>
            <a:r>
              <a:rPr b="0" i="0" lang="en-US" sz="17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Informação na ponta dos dedos.</a:t>
            </a:r>
            <a:endParaRPr sz="1600"/>
          </a:p>
        </p:txBody>
      </p:sp>
      <p:pic>
        <p:nvPicPr>
          <p:cNvPr descr="image.png" id="277" name="Google Shape;277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729037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8" name="Google Shape;278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50056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9" name="Google Shape;279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2957512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0" name="Google Shape;280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34125" y="3729037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1" name="Google Shape;281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34125" y="4500562"/>
            <a:ext cx="1714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4"/>
          <p:cNvSpPr txBox="1"/>
          <p:nvPr/>
        </p:nvSpPr>
        <p:spPr>
          <a:xfrm>
            <a:off x="762000" y="571500"/>
            <a:ext cx="114015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50" u="none" cap="none" strike="noStrike">
                <a:solidFill>
                  <a:srgbClr val="002B49"/>
                </a:solidFill>
                <a:latin typeface="Montserrat"/>
                <a:ea typeface="Montserrat"/>
                <a:cs typeface="Montserrat"/>
                <a:sym typeface="Montserrat"/>
              </a:rPr>
              <a:t>BENEFÍCIOS DO SIGAC</a:t>
            </a:r>
            <a:endParaRPr sz="1600"/>
          </a:p>
        </p:txBody>
      </p:sp>
      <p:sp>
        <p:nvSpPr>
          <p:cNvPr id="283" name="Google Shape;283;p24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image.png" id="285" name="Google Shape;285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4495" y="2957512"/>
            <a:ext cx="17145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5"/>
          <p:cNvSpPr txBox="1"/>
          <p:nvPr/>
        </p:nvSpPr>
        <p:spPr>
          <a:xfrm>
            <a:off x="571500" y="2938462"/>
            <a:ext cx="5286300" cy="22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 implementação do SIGAC representa uma quebra de paradigma na gestão condominial, substituindo processos arcaicos por uma infraestrutura robusta de software que garante a sustentabilidade financeira das propriedades.</a:t>
            </a:r>
            <a:endParaRPr sz="1700">
              <a:solidFill>
                <a:srgbClr val="334155"/>
              </a:solidFill>
            </a:endParaRPr>
          </a:p>
        </p:txBody>
      </p:sp>
      <p:sp>
        <p:nvSpPr>
          <p:cNvPr id="291" name="Google Shape;291;p25"/>
          <p:cNvSpPr txBox="1"/>
          <p:nvPr/>
        </p:nvSpPr>
        <p:spPr>
          <a:xfrm>
            <a:off x="6619875" y="3362325"/>
            <a:ext cx="4714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Resultados Chave:</a:t>
            </a:r>
            <a:endParaRPr sz="1700">
              <a:solidFill>
                <a:srgbClr val="334155"/>
              </a:solidFill>
            </a:endParaRPr>
          </a:p>
        </p:txBody>
      </p:sp>
      <p:sp>
        <p:nvSpPr>
          <p:cNvPr id="292" name="Google Shape;292;p25"/>
          <p:cNvSpPr txBox="1"/>
          <p:nvPr/>
        </p:nvSpPr>
        <p:spPr>
          <a:xfrm>
            <a:off x="6915150" y="3629025"/>
            <a:ext cx="857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93" name="Google Shape;293;p25"/>
          <p:cNvSpPr txBox="1"/>
          <p:nvPr/>
        </p:nvSpPr>
        <p:spPr>
          <a:xfrm>
            <a:off x="7000875" y="3648075"/>
            <a:ext cx="4333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Centralização absoluta de dados.</a:t>
            </a:r>
            <a:endParaRPr sz="1700">
              <a:solidFill>
                <a:srgbClr val="334155"/>
              </a:solidFill>
            </a:endParaRPr>
          </a:p>
        </p:txBody>
      </p:sp>
      <p:sp>
        <p:nvSpPr>
          <p:cNvPr id="294" name="Google Shape;294;p25"/>
          <p:cNvSpPr txBox="1"/>
          <p:nvPr/>
        </p:nvSpPr>
        <p:spPr>
          <a:xfrm>
            <a:off x="6915150" y="3819525"/>
            <a:ext cx="857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95" name="Google Shape;295;p25"/>
          <p:cNvSpPr txBox="1"/>
          <p:nvPr/>
        </p:nvSpPr>
        <p:spPr>
          <a:xfrm>
            <a:off x="7000875" y="3838575"/>
            <a:ext cx="4333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Melhoria na tomada de decisão.</a:t>
            </a:r>
            <a:endParaRPr sz="1700">
              <a:solidFill>
                <a:srgbClr val="334155"/>
              </a:solidFill>
            </a:endParaRPr>
          </a:p>
        </p:txBody>
      </p:sp>
      <p:sp>
        <p:nvSpPr>
          <p:cNvPr id="296" name="Google Shape;296;p25"/>
          <p:cNvSpPr txBox="1"/>
          <p:nvPr/>
        </p:nvSpPr>
        <p:spPr>
          <a:xfrm>
            <a:off x="6915150" y="4010025"/>
            <a:ext cx="857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97" name="Google Shape;297;p25"/>
          <p:cNvSpPr txBox="1"/>
          <p:nvPr/>
        </p:nvSpPr>
        <p:spPr>
          <a:xfrm>
            <a:off x="7000875" y="4029075"/>
            <a:ext cx="4333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Impacto positivo na valorização imobiliária.</a:t>
            </a:r>
            <a:endParaRPr sz="1700">
              <a:solidFill>
                <a:srgbClr val="334155"/>
              </a:solidFill>
            </a:endParaRPr>
          </a:p>
        </p:txBody>
      </p:sp>
      <p:sp>
        <p:nvSpPr>
          <p:cNvPr id="298" name="Google Shape;298;p25"/>
          <p:cNvSpPr txBox="1"/>
          <p:nvPr/>
        </p:nvSpPr>
        <p:spPr>
          <a:xfrm>
            <a:off x="762000" y="571500"/>
            <a:ext cx="114015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CONCLUSÃO</a:t>
            </a:r>
            <a:endParaRPr sz="1700">
              <a:solidFill>
                <a:srgbClr val="334155"/>
              </a:solidFill>
            </a:endParaRPr>
          </a:p>
        </p:txBody>
      </p:sp>
      <p:sp>
        <p:nvSpPr>
          <p:cNvPr id="299" name="Google Shape;299;p25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5" name="Google Shape;30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26"/>
          <p:cNvSpPr txBox="1"/>
          <p:nvPr/>
        </p:nvSpPr>
        <p:spPr>
          <a:xfrm>
            <a:off x="4323526" y="1798300"/>
            <a:ext cx="3729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00" u="none" cap="none" strike="noStrike">
                <a:solidFill>
                  <a:srgbClr val="00A3E0"/>
                </a:solidFill>
                <a:latin typeface="Montserrat"/>
                <a:ea typeface="Montserrat"/>
                <a:cs typeface="Montserrat"/>
                <a:sym typeface="Montserrat"/>
              </a:rPr>
              <a:t>Obrigado!</a:t>
            </a:r>
            <a:endParaRPr sz="1800"/>
          </a:p>
        </p:txBody>
      </p:sp>
      <p:sp>
        <p:nvSpPr>
          <p:cNvPr id="307" name="Google Shape;307;p26"/>
          <p:cNvSpPr txBox="1"/>
          <p:nvPr/>
        </p:nvSpPr>
        <p:spPr>
          <a:xfrm>
            <a:off x="3638550" y="2703327"/>
            <a:ext cx="49149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Agradecemos a atenção da banca avaliadora.</a:t>
            </a:r>
            <a:endParaRPr sz="1800"/>
          </a:p>
        </p:txBody>
      </p:sp>
      <p:sp>
        <p:nvSpPr>
          <p:cNvPr id="308" name="Google Shape;308;p26"/>
          <p:cNvSpPr/>
          <p:nvPr/>
        </p:nvSpPr>
        <p:spPr>
          <a:xfrm>
            <a:off x="5190665" y="3549540"/>
            <a:ext cx="1995300" cy="507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6"/>
          <p:cNvSpPr txBox="1"/>
          <p:nvPr/>
        </p:nvSpPr>
        <p:spPr>
          <a:xfrm>
            <a:off x="4633912" y="3878460"/>
            <a:ext cx="29241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Perguntas e Comentários?</a:t>
            </a:r>
            <a:endParaRPr sz="1800"/>
          </a:p>
        </p:txBody>
      </p:sp>
      <p:sp>
        <p:nvSpPr>
          <p:cNvPr id="310" name="Google Shape;310;p2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5" name="Google Shape;31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7"/>
          <p:cNvSpPr txBox="1"/>
          <p:nvPr/>
        </p:nvSpPr>
        <p:spPr>
          <a:xfrm>
            <a:off x="1047750" y="2857500"/>
            <a:ext cx="10572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ANDRADE, M. H. S.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Engenharia de Software Moderna</a:t>
            </a:r>
            <a:r>
              <a:rPr b="0" i="0" lang="en-US" sz="1500" u="none" cap="none" strike="noStrik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Belo Horizonte: PUC Minas, 2023.</a:t>
            </a:r>
            <a:endParaRPr/>
          </a:p>
        </p:txBody>
      </p:sp>
      <p:sp>
        <p:nvSpPr>
          <p:cNvPr id="317" name="Google Shape;317;p27"/>
          <p:cNvSpPr txBox="1"/>
          <p:nvPr/>
        </p:nvSpPr>
        <p:spPr>
          <a:xfrm>
            <a:off x="1047750" y="3362325"/>
            <a:ext cx="10572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PRESSMAN, Roger S.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Engenharia de Software: uma abordagem profissional</a:t>
            </a:r>
            <a:r>
              <a:rPr b="0" i="0" lang="en-US" sz="1500" u="none" cap="none" strike="noStrik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9. ed. Nova York: McGraw Hill, 2021.</a:t>
            </a:r>
            <a:endParaRPr/>
          </a:p>
        </p:txBody>
      </p:sp>
      <p:sp>
        <p:nvSpPr>
          <p:cNvPr id="318" name="Google Shape;318;p27"/>
          <p:cNvSpPr txBox="1"/>
          <p:nvPr/>
        </p:nvSpPr>
        <p:spPr>
          <a:xfrm>
            <a:off x="1047750" y="3867150"/>
            <a:ext cx="10572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SOMMERVILLE, Ian.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Engenharia de Software</a:t>
            </a:r>
            <a:r>
              <a:rPr b="0" i="0" lang="en-US" sz="1500" u="none" cap="none" strike="noStrik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10. ed. São Paulo: Pearson, 2018.</a:t>
            </a:r>
            <a:endParaRPr/>
          </a:p>
        </p:txBody>
      </p:sp>
      <p:sp>
        <p:nvSpPr>
          <p:cNvPr id="319" name="Google Shape;319;p27"/>
          <p:cNvSpPr txBox="1"/>
          <p:nvPr/>
        </p:nvSpPr>
        <p:spPr>
          <a:xfrm>
            <a:off x="1047750" y="4371975"/>
            <a:ext cx="10572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INSTITUTO NACIONAL DA CONSTRUÇÃO CIVIL (INCC).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Censo Condominial 2024/25</a:t>
            </a:r>
            <a:r>
              <a:rPr b="0" i="0" lang="en-US" sz="1500" u="none" cap="none" strike="noStrik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Brasil, 2024.</a:t>
            </a:r>
            <a:endParaRPr/>
          </a:p>
        </p:txBody>
      </p:sp>
      <p:pic>
        <p:nvPicPr>
          <p:cNvPr descr="image.png" id="320" name="Google Shape;320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9560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1" name="Google Shape;321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400425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2" name="Google Shape;322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90525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3" name="Google Shape;323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410075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27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2B49"/>
                </a:solidFill>
                <a:latin typeface="Montserrat"/>
                <a:ea typeface="Montserrat"/>
                <a:cs typeface="Montserrat"/>
                <a:sym typeface="Montserrat"/>
              </a:rPr>
              <a:t>REFERÊNCIAS BIBLIOGRÁFICAS</a:t>
            </a:r>
            <a:endParaRPr/>
          </a:p>
        </p:txBody>
      </p:sp>
      <p:sp>
        <p:nvSpPr>
          <p:cNvPr id="325" name="Google Shape;325;p27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