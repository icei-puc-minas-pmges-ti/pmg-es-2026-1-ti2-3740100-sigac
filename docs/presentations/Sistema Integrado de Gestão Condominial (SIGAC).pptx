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Inter SemiBold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Inter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InterSemiBold-bold.fntdata"/><Relationship Id="rId27" Type="http://schemas.openxmlformats.org/officeDocument/2006/relationships/font" Target="fonts/Inter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InterSemiBold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Inter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-italic.fntdata"/><Relationship Id="rId14" Type="http://schemas.openxmlformats.org/officeDocument/2006/relationships/slide" Target="slides/slide9.xml"/><Relationship Id="rId36" Type="http://schemas.openxmlformats.org/officeDocument/2006/relationships/font" Target="fonts/Inter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Inter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9.png"/><Relationship Id="rId7" Type="http://schemas.openxmlformats.org/officeDocument/2006/relationships/image" Target="../media/image9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6.png"/><Relationship Id="rId5" Type="http://schemas.openxmlformats.org/officeDocument/2006/relationships/image" Target="../media/image27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9" Type="http://schemas.openxmlformats.org/officeDocument/2006/relationships/image" Target="../media/image52.png"/><Relationship Id="rId5" Type="http://schemas.openxmlformats.org/officeDocument/2006/relationships/image" Target="../media/image51.png"/><Relationship Id="rId6" Type="http://schemas.openxmlformats.org/officeDocument/2006/relationships/image" Target="../media/image11.png"/><Relationship Id="rId7" Type="http://schemas.openxmlformats.org/officeDocument/2006/relationships/image" Target="../media/image7.png"/><Relationship Id="rId8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5.png"/><Relationship Id="rId6" Type="http://schemas.openxmlformats.org/officeDocument/2006/relationships/image" Target="../media/image33.png"/><Relationship Id="rId7" Type="http://schemas.openxmlformats.org/officeDocument/2006/relationships/image" Target="../media/image17.png"/><Relationship Id="rId8" Type="http://schemas.openxmlformats.org/officeDocument/2006/relationships/image" Target="../media/image3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31.png"/><Relationship Id="rId11" Type="http://schemas.openxmlformats.org/officeDocument/2006/relationships/image" Target="../media/image22.png"/><Relationship Id="rId10" Type="http://schemas.openxmlformats.org/officeDocument/2006/relationships/image" Target="../media/image37.png"/><Relationship Id="rId9" Type="http://schemas.openxmlformats.org/officeDocument/2006/relationships/image" Target="../media/image34.png"/><Relationship Id="rId5" Type="http://schemas.openxmlformats.org/officeDocument/2006/relationships/image" Target="../media/image48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9" Type="http://schemas.openxmlformats.org/officeDocument/2006/relationships/image" Target="../media/image45.png"/><Relationship Id="rId5" Type="http://schemas.openxmlformats.org/officeDocument/2006/relationships/image" Target="../media/image26.png"/><Relationship Id="rId6" Type="http://schemas.openxmlformats.org/officeDocument/2006/relationships/image" Target="../media/image44.png"/><Relationship Id="rId7" Type="http://schemas.openxmlformats.org/officeDocument/2006/relationships/image" Target="../media/image42.png"/><Relationship Id="rId8" Type="http://schemas.openxmlformats.org/officeDocument/2006/relationships/image" Target="../media/image3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43.png"/><Relationship Id="rId5" Type="http://schemas.openxmlformats.org/officeDocument/2006/relationships/image" Target="../media/image30.png"/><Relationship Id="rId6" Type="http://schemas.openxmlformats.org/officeDocument/2006/relationships/image" Target="../media/image50.png"/><Relationship Id="rId7" Type="http://schemas.openxmlformats.org/officeDocument/2006/relationships/image" Target="../media/image46.png"/><Relationship Id="rId8" Type="http://schemas.openxmlformats.org/officeDocument/2006/relationships/image" Target="../media/image4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Relationship Id="rId4" Type="http://schemas.openxmlformats.org/officeDocument/2006/relationships/image" Target="../media/image3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4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071937" y="1339304"/>
            <a:ext cx="4048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A3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ENGENHARIA DE SOFTWARE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070871" y="1758404"/>
            <a:ext cx="2050256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SIGAC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62200" y="2619375"/>
            <a:ext cx="74676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Sistema Integrado de Gestão e Administração Condominial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381625" y="3467100"/>
            <a:ext cx="1428750" cy="381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4795837" y="5375820"/>
            <a:ext cx="2600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PUC Minas • Belo Horizonte • 2024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1676400" y="4171950"/>
            <a:ext cx="4229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Autores: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Caio Felix Reis, Davi Rodrigues, Luca Mazala,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Manoel Bezerra Neto, Milena Cardoso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6286500" y="4171950"/>
            <a:ext cx="4229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Orientadores: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Michelle H. S. Andrade, Lucca S. P. Lacerda,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Luiz Carlos da Silva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1047750" y="2266950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Mercado em Expansão: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Crescimento de 23,8% no número de condomínios em 8 anos (INCC).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047750" y="3038475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Impacto Econômico: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Setor movimenta aproximadamente R$ 300 bilhões anuais no Brasil.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47750" y="3810000"/>
            <a:ext cx="4810125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Profissionalização: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Alta demanda por gestores técnicos devido à complexidade tributária e operacional.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47750" y="4848225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Volume Crítico: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Mais de 520 mil condomínios ativos em todo o território nacional.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305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0765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8481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4886325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CONTEXTUALIZAÇÃO DO SETOR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047750" y="2605087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Fragmentação de Dados: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Uso excessivo de planilhas isoladas sem versionamento ou segurança.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47750" y="3109912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Processos Manuais: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Gasto elevado de tempo em tarefas repetitivas de controle de funcionários e manutenções.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1047750" y="3614737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Opacidade Financeira: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Dificuldade na rastreabilidade de gastos e falta de transparência para condôminos.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47750" y="4119562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Riscos Operacionais: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Falhas em cronogramas de manutenção preventiva e perda de históricos críticos.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47750" y="4624387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Comunicação Falha: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Mural de avisos físicos e canais informais gerando ruídos na gestão.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48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52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576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248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DORES E PROBLEMAS IDENTIFICADOS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1528762"/>
            <a:ext cx="52006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SOLUÇÃO PROPOSTA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71500" y="2405062"/>
            <a:ext cx="4953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A3E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Plataforma SIGAC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571500" y="2795587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Desenvolvemos uma plataforma web centralizada capaz de unificar todos os pilares da administração predial em um ecossistema digital seguro e auditável.</a:t>
            </a:r>
            <a:endParaRPr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1047750" y="3700462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Dashboard financeiro intuitivo.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047750" y="4205287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Gestão de manutenção rigorosa.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047750" y="4710112"/>
            <a:ext cx="4476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Controle de gastos e inquilinos.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7385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2433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748212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5286375" cy="3324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05037"/>
            <a:ext cx="5286375" cy="33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952500" y="25860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 Geral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952500" y="3100387"/>
            <a:ext cx="4524375" cy="1340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Desenvolver um Sistema Integrado de Gestão Condominial que proporcione eficiência operacional, transparência financeira e otimização da manutenção predial.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715125" y="258603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2B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Objetivos Específicos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191375" y="3100387"/>
            <a:ext cx="4048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Digitalizar o cadastro de inquilinos e funcionários.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191375" y="3871912"/>
            <a:ext cx="4048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Implementar fluxos de aviso e comunicação digital.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7191375" y="4643437"/>
            <a:ext cx="4048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Estruturar módulo de controle de despesas.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1384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391001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15125" y="4681537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OBJETIVOS DO PROJETO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57462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57462"/>
            <a:ext cx="3492549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57462"/>
            <a:ext cx="3492549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1752629" y="3605212"/>
            <a:ext cx="11301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Gestora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866775" y="411956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Usuário administrativo com visão macro de múltiplos condomínios e relatórios gerenciais.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5560933" y="3605212"/>
            <a:ext cx="10701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Síndico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4645074" y="411956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Responsável legal focado no acompanhamento financeiro e status das manutenções.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8934182" y="3605212"/>
            <a:ext cx="188023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Funcionários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8423374" y="4119562"/>
            <a:ext cx="290199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Operadores que utilizam o sistema para registro de tarefas e acesso a avisos internos.</a:t>
            </a:r>
            <a:endParaRPr/>
          </a:p>
        </p:txBody>
      </p:sp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31950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90036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MATRIZ DE STAKEHOLDERS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8937" y="2776537"/>
            <a:ext cx="71437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 txBox="1"/>
          <p:nvPr/>
        </p:nvSpPr>
        <p:spPr>
          <a:xfrm>
            <a:off x="635793" y="3919537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Paradigma Analógico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762000" y="4433887"/>
            <a:ext cx="50482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Processos baseados em documentos físicos e planilhas eletrônicas desconectadas.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667500" y="293370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Dificuldade de auditoria de dados passados.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667500" y="343852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Inexistência de backup automatizado.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667500" y="3943350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Comunicação via papel (mural físico).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6667500" y="4448175"/>
            <a:ext cx="495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Controle de estoque e manutenção reativo.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ANÁLISE DE PROCESSOS: AS-IS</a:t>
            </a:r>
            <a:endParaRPr/>
          </a:p>
        </p:txBody>
      </p:sp>
      <p:sp>
        <p:nvSpPr>
          <p:cNvPr id="191" name="Google Shape;191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DF4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0"/>
          <p:cNvSpPr txBox="1"/>
          <p:nvPr/>
        </p:nvSpPr>
        <p:spPr>
          <a:xfrm>
            <a:off x="6201965" y="439578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6A34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Otimização Digital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1047750" y="2800350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Automação: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Fluxos de trabalho digitais e automáticos.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1047750" y="3571875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Disponibilidade: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Dados em nuvem acessíveis 24/7.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1047750" y="4076700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Transparência: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Dashboards em tempo real.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47750" y="4581525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Rastreabilidade: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Log de atividades por usuário.</a:t>
            </a:r>
            <a:endParaRPr/>
          </a:p>
        </p:txBody>
      </p:sp>
      <p:pic>
        <p:nvPicPr>
          <p:cNvPr descr="image.png" id="202" name="Google Shape;20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812" y="2928937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384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997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1480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19625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VISÃO DE FUTURO: TO-BE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66950"/>
            <a:ext cx="3492549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8820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171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954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1197560" y="4133850"/>
            <a:ext cx="224028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Cadastros Base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88950" y="4648200"/>
            <a:ext cx="2857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Inquilinos, Condomínios e Funcionários.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670821" y="4133850"/>
            <a:ext cx="285035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Gestão Operacional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645074" y="4648200"/>
            <a:ext cx="29019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Manutenções Preventivas e Avisos Gerais.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889176" y="4133850"/>
            <a:ext cx="19702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Controladoria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423374" y="4648200"/>
            <a:ext cx="2901999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Gestão de Gastos e Dashboard de Receitas.</a:t>
            </a:r>
            <a:endParaRPr/>
          </a:p>
        </p:txBody>
      </p:sp>
      <p:pic>
        <p:nvPicPr>
          <p:cNvPr descr="image.png" id="226" name="Google Shape;22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38820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171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95419" y="2562225"/>
            <a:ext cx="255776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1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MÓDULOS FUNCIONAIS</a:t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5" name="Google Shape;23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2"/>
          <p:cNvSpPr txBox="1"/>
          <p:nvPr/>
        </p:nvSpPr>
        <p:spPr>
          <a:xfrm>
            <a:off x="571500" y="23288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Back-end &amp; Front-end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571500" y="2843212"/>
            <a:ext cx="52863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Arquitetura baseada em microsserviços lógicos seguindo o padrão </a:t>
            </a:r>
            <a:r>
              <a:rPr b="1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RESTful API</a:t>
            </a: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descr="image.png" id="239" name="Google Shape;239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2"/>
          <p:cNvSpPr txBox="1"/>
          <p:nvPr/>
        </p:nvSpPr>
        <p:spPr>
          <a:xfrm>
            <a:off x="1047750" y="338613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Camada de Apresentação: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React com Bootstrap.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1047750" y="38909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Camada de Negócio: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Java Spring Boot.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1047750" y="439578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Persistência: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MySQL Database.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1047750" y="490061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Segurança: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Autenticação via Stateless JWT.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ARQUITETURA DA SOLUÇÃO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621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3"/>
          <p:cNvSpPr txBox="1"/>
          <p:nvPr/>
        </p:nvSpPr>
        <p:spPr>
          <a:xfrm>
            <a:off x="6334125" y="23479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0A3E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Entidades Principais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810375" y="28622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Condomínio: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Centro de custo principal.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6810375" y="336708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Funcionário/Prestador: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Vínculo de serviços.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6810375" y="387191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Gastos: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Transações financeiras tipificadas.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810375" y="4376737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Manutenções: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Tickets de serviço predial.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810375" y="48815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Inquilinos: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Responsáveis pelas unidades.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MODELAGEM DE DADOS (MER)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5" name="Google Shape;26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9775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1924050" y="3000375"/>
            <a:ext cx="6286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React JS</a:t>
            </a:r>
            <a:endParaRPr/>
          </a:p>
        </p:txBody>
      </p:sp>
      <p:pic>
        <p:nvPicPr>
          <p:cNvPr descr="image.png" id="268" name="Google Shape;26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8675" y="23526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4"/>
          <p:cNvSpPr txBox="1"/>
          <p:nvPr/>
        </p:nvSpPr>
        <p:spPr>
          <a:xfrm>
            <a:off x="4486275" y="3000375"/>
            <a:ext cx="647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Java 17+</a:t>
            </a:r>
            <a:endParaRPr/>
          </a:p>
        </p:txBody>
      </p:sp>
      <p:pic>
        <p:nvPicPr>
          <p:cNvPr descr="image.png" id="270" name="Google Shape;270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53275" y="235267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4"/>
          <p:cNvSpPr txBox="1"/>
          <p:nvPr/>
        </p:nvSpPr>
        <p:spPr>
          <a:xfrm>
            <a:off x="6958012" y="3000375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Spring Boot</a:t>
            </a:r>
            <a:endParaRPr/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53600" y="23526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4"/>
          <p:cNvSpPr txBox="1"/>
          <p:nvPr/>
        </p:nvSpPr>
        <p:spPr>
          <a:xfrm>
            <a:off x="9696450" y="3000375"/>
            <a:ext cx="514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MySQL</a:t>
            </a:r>
            <a:endParaRPr/>
          </a:p>
        </p:txBody>
      </p:sp>
      <p:pic>
        <p:nvPicPr>
          <p:cNvPr descr="image.png" id="274" name="Google Shape;27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6287" y="4400550"/>
            <a:ext cx="4476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4"/>
          <p:cNvSpPr txBox="1"/>
          <p:nvPr/>
        </p:nvSpPr>
        <p:spPr>
          <a:xfrm>
            <a:off x="4562475" y="5048250"/>
            <a:ext cx="49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endParaRPr/>
          </a:p>
        </p:txBody>
      </p:sp>
      <p:pic>
        <p:nvPicPr>
          <p:cNvPr descr="image.png" id="276" name="Google Shape;27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53275" y="440055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7029450" y="5048250"/>
            <a:ext cx="704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JWT Auth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STACK TECNOLÓGICA</a:t>
            </a:r>
            <a:endParaRPr/>
          </a:p>
        </p:txBody>
      </p:sp>
      <p:sp>
        <p:nvSpPr>
          <p:cNvPr id="279" name="Google Shape;279;p2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571500" y="5605462"/>
            <a:ext cx="11049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Visualização consolidada de receitas vs. despesas por condomínio.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ANÁLISE FINANCEIRA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3" name="Google Shape;29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6"/>
          <p:cNvSpPr txBox="1"/>
          <p:nvPr/>
        </p:nvSpPr>
        <p:spPr>
          <a:xfrm>
            <a:off x="1047750" y="2919412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Integridade: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Redução drástica de erros humanos e duplicidade.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1047750" y="3690937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Visibilidade: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Transparência total para o conselho fiscal.</a:t>
            </a:r>
            <a:endParaRPr/>
          </a:p>
        </p:txBody>
      </p:sp>
      <p:sp>
        <p:nvSpPr>
          <p:cNvPr id="296" name="Google Shape;296;p26"/>
          <p:cNvSpPr txBox="1"/>
          <p:nvPr/>
        </p:nvSpPr>
        <p:spPr>
          <a:xfrm>
            <a:off x="1047750" y="44624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Histórico: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Rastreabilidade de cada centavo gasto.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810375" y="2919412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Escalabilidade: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Suporte para centenas de condomínios.</a:t>
            </a:r>
            <a:endParaRPr/>
          </a:p>
        </p:txBody>
      </p:sp>
      <p:sp>
        <p:nvSpPr>
          <p:cNvPr id="298" name="Google Shape;298;p26"/>
          <p:cNvSpPr txBox="1"/>
          <p:nvPr/>
        </p:nvSpPr>
        <p:spPr>
          <a:xfrm>
            <a:off x="6810375" y="3690937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Economia: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Otimização do tempo da equipe administrativa.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6810375" y="4462462"/>
            <a:ext cx="4810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Acessibilidade: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Informação na ponta dos dedos.</a:t>
            </a:r>
            <a:endParaRPr/>
          </a:p>
        </p:txBody>
      </p:sp>
      <p:pic>
        <p:nvPicPr>
          <p:cNvPr descr="image.png" id="300" name="Google Shape;300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29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005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29575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3" name="Google Shape;30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34125" y="37290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125" y="4500562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BENEFÍCIOS DO SIGAC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B49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76575"/>
            <a:ext cx="528637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7"/>
          <p:cNvSpPr txBox="1"/>
          <p:nvPr/>
        </p:nvSpPr>
        <p:spPr>
          <a:xfrm>
            <a:off x="571500" y="2938462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implementação do SIGAC representa uma quebra de paradigma na gestão condominial, substituindo processos arcaicos por uma infraestrutura robusta de software que garante a sustentabilidade financeira das propriedades.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6619875" y="3362325"/>
            <a:ext cx="4714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Resultados Chave: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6915150" y="36290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7000875" y="3648075"/>
            <a:ext cx="433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Centralização absoluta de dados.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6915150" y="38195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7000875" y="3838575"/>
            <a:ext cx="433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Melhoria na tomada de decisão.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915150" y="4010025"/>
            <a:ext cx="85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7000875" y="4029075"/>
            <a:ext cx="43338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8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Impacto positivo na valorização imobiliária.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CONCLUSÃO</a:t>
            </a:r>
            <a:endParaRPr/>
          </a:p>
        </p:txBody>
      </p:sp>
      <p:sp>
        <p:nvSpPr>
          <p:cNvPr id="322" name="Google Shape;322;p2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7" name="Google Shape;32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8"/>
          <p:cNvSpPr txBox="1"/>
          <p:nvPr/>
        </p:nvSpPr>
        <p:spPr>
          <a:xfrm>
            <a:off x="1047750" y="2857500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ANDRADE, M. H. 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 Moderna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Belo Horizonte: PUC Minas, 2023.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047750" y="336232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PRESSMAN, Roger S.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Software: uma abordagem profissional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9. ed. Nova York: McGraw Hill, 2021.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1047750" y="3867150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SOMMERVILLE, Ian.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Engenharia de Software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10. ed. São Paulo: Pearson, 2018.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047750" y="4371975"/>
            <a:ext cx="10572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INSTITUTO NACIONAL DA CONSTRUÇÃO CIVIL (INCC). </a:t>
            </a:r>
            <a:r>
              <a:rPr b="1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Censo Condominial 2024/25</a:t>
            </a:r>
            <a:r>
              <a:rPr b="0" i="0" lang="en-US" sz="1500" u="none" cap="none" strike="noStrike">
                <a:solidFill>
                  <a:srgbClr val="3341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Brasil, 2024.</a:t>
            </a:r>
            <a:endParaRPr/>
          </a:p>
        </p:txBody>
      </p:sp>
      <p:pic>
        <p:nvPicPr>
          <p:cNvPr descr="image.png" id="332" name="Google Shape;33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956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004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052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0075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762000" y="571500"/>
            <a:ext cx="114014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2B49"/>
                </a:solidFill>
                <a:latin typeface="Montserrat"/>
                <a:ea typeface="Montserrat"/>
                <a:cs typeface="Montserrat"/>
                <a:sym typeface="Montserrat"/>
              </a:rPr>
              <a:t>REFERÊNCIAS BIBLIOGRÁFICAS</a:t>
            </a:r>
            <a:endParaRPr/>
          </a:p>
        </p:txBody>
      </p:sp>
      <p:sp>
        <p:nvSpPr>
          <p:cNvPr id="337" name="Google Shape;337;p2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9"/>
          <p:cNvSpPr txBox="1"/>
          <p:nvPr/>
        </p:nvSpPr>
        <p:spPr>
          <a:xfrm>
            <a:off x="4425791" y="1798290"/>
            <a:ext cx="3340417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A3E0"/>
                </a:solidFill>
                <a:latin typeface="Montserrat"/>
                <a:ea typeface="Montserrat"/>
                <a:cs typeface="Montserrat"/>
                <a:sym typeface="Montserrat"/>
              </a:rPr>
              <a:t>Obrigado!</a:t>
            </a:r>
            <a:endParaRPr/>
          </a:p>
        </p:txBody>
      </p:sp>
      <p:sp>
        <p:nvSpPr>
          <p:cNvPr id="344" name="Google Shape;344;p29"/>
          <p:cNvSpPr txBox="1"/>
          <p:nvPr/>
        </p:nvSpPr>
        <p:spPr>
          <a:xfrm>
            <a:off x="3638550" y="2659260"/>
            <a:ext cx="4914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Agradecemos a atenção da banca avaliadora.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5381625" y="3459360"/>
            <a:ext cx="1428750" cy="38100"/>
          </a:xfrm>
          <a:prstGeom prst="rect">
            <a:avLst/>
          </a:prstGeom>
          <a:solidFill>
            <a:srgbClr val="00A3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9"/>
          <p:cNvSpPr txBox="1"/>
          <p:nvPr/>
        </p:nvSpPr>
        <p:spPr>
          <a:xfrm>
            <a:off x="4633912" y="3878460"/>
            <a:ext cx="29241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Perguntas e Comentários?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5281612" y="4678560"/>
            <a:ext cx="162877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sigac-gestao.com.br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contato@sigac.com.br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